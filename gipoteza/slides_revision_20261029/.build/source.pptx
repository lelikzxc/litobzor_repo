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slideMaster4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</p:sldMasterIdLst>
  <p:sldIdLst>
    <p:sldId id="256" r:id="rId4"/>
    <p:sldId id="257" r:id="rId5"/>
    <p:sldId id="258" r:id="rId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4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бакалаврская работ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55" descr=""/>
          <p:cNvPicPr/>
          <p:nvPr/>
        </p:nvPicPr>
        <p:blipFill>
          <a:blip r:embed="rId2"/>
          <a:srcRect l="7092" t="0" r="7258" b="0"/>
          <a:stretch/>
        </p:blipFill>
        <p:spPr>
          <a:xfrm>
            <a:off x="7010280" y="32400"/>
            <a:ext cx="2121120" cy="110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Рисунок 1" descr=""/>
          <p:cNvPicPr/>
          <p:nvPr/>
        </p:nvPicPr>
        <p:blipFill>
          <a:blip r:embed="rId3"/>
          <a:stretch/>
        </p:blipFill>
        <p:spPr>
          <a:xfrm>
            <a:off x="140760" y="299880"/>
            <a:ext cx="1793160" cy="69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0" y="1103400"/>
            <a:ext cx="9142920" cy="42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911400" y="3326760"/>
            <a:ext cx="4344120" cy="146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536400" y="1609920"/>
            <a:ext cx="8069760" cy="163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Прямоугольник 4"/>
          <p:cNvSpPr/>
          <p:nvPr/>
        </p:nvSpPr>
        <p:spPr>
          <a:xfrm>
            <a:off x="0" y="675720"/>
            <a:ext cx="91429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15000"/>
              </a:lnSpc>
            </a:pPr>
            <a:r>
              <a:rPr b="0" lang="ru-RU" sz="2000" strike="noStrike" u="none">
                <a:solidFill>
                  <a:srgbClr val="3333b3"/>
                </a:solidFill>
                <a:effectLst/>
                <a:uFillTx/>
                <a:latin typeface="Calibri Light"/>
                <a:ea typeface="CMU Bright"/>
              </a:rPr>
              <a:t>ВКР бакалавра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магистерская диссертация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hape 55" descr=""/>
          <p:cNvPicPr/>
          <p:nvPr/>
        </p:nvPicPr>
        <p:blipFill>
          <a:blip r:embed="rId2"/>
          <a:srcRect l="7092" t="0" r="7258" b="0"/>
          <a:stretch/>
        </p:blipFill>
        <p:spPr>
          <a:xfrm>
            <a:off x="7010280" y="32400"/>
            <a:ext cx="2121120" cy="110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Рисунок 1" descr=""/>
          <p:cNvPicPr/>
          <p:nvPr/>
        </p:nvPicPr>
        <p:blipFill>
          <a:blip r:embed="rId3"/>
          <a:stretch/>
        </p:blipFill>
        <p:spPr>
          <a:xfrm>
            <a:off x="140760" y="299880"/>
            <a:ext cx="1793160" cy="69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body"/>
          </p:nvPr>
        </p:nvSpPr>
        <p:spPr>
          <a:xfrm>
            <a:off x="0" y="1103400"/>
            <a:ext cx="9142920" cy="42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911400" y="3326760"/>
            <a:ext cx="4344120" cy="146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title"/>
          </p:nvPr>
        </p:nvSpPr>
        <p:spPr>
          <a:xfrm>
            <a:off x="536400" y="1609920"/>
            <a:ext cx="8069760" cy="163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Прямоугольник 4"/>
          <p:cNvSpPr/>
          <p:nvPr/>
        </p:nvSpPr>
        <p:spPr>
          <a:xfrm>
            <a:off x="0" y="675720"/>
            <a:ext cx="91429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15000"/>
              </a:lnSpc>
            </a:pPr>
            <a:r>
              <a:rPr b="0" lang="ru-RU" sz="2000" strike="noStrike" u="none">
                <a:solidFill>
                  <a:srgbClr val="3333b3"/>
                </a:solidFill>
                <a:effectLst/>
                <a:uFillTx/>
                <a:latin typeface="Calibri Light"/>
                <a:ea typeface="CMU Bright"/>
              </a:rPr>
              <a:t>Магистерская диссертация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общая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hape 55" descr=""/>
          <p:cNvPicPr/>
          <p:nvPr/>
        </p:nvPicPr>
        <p:blipFill>
          <a:blip r:embed="rId2"/>
          <a:srcRect l="7092" t="0" r="7258" b="0"/>
          <a:stretch/>
        </p:blipFill>
        <p:spPr>
          <a:xfrm>
            <a:off x="7010280" y="32400"/>
            <a:ext cx="2121120" cy="110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Рисунок 1" descr=""/>
          <p:cNvPicPr/>
          <p:nvPr/>
        </p:nvPicPr>
        <p:blipFill>
          <a:blip r:embed="rId3"/>
          <a:stretch/>
        </p:blipFill>
        <p:spPr>
          <a:xfrm>
            <a:off x="140760" y="299880"/>
            <a:ext cx="1793160" cy="69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body"/>
          </p:nvPr>
        </p:nvSpPr>
        <p:spPr>
          <a:xfrm>
            <a:off x="0" y="1103400"/>
            <a:ext cx="9142920" cy="42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911400" y="3326760"/>
            <a:ext cx="4344120" cy="146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title"/>
          </p:nvPr>
        </p:nvSpPr>
        <p:spPr>
          <a:xfrm>
            <a:off x="536400" y="1609920"/>
            <a:ext cx="8069760" cy="163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hape 55" descr=""/>
          <p:cNvPicPr/>
          <p:nvPr/>
        </p:nvPicPr>
        <p:blipFill>
          <a:blip r:embed="rId2"/>
          <a:srcRect l="6032" t="20250" r="9000" b="17458"/>
          <a:stretch/>
        </p:blipFill>
        <p:spPr>
          <a:xfrm>
            <a:off x="7315200" y="51840"/>
            <a:ext cx="1771200" cy="57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Рисунок 1" descr=""/>
          <p:cNvPicPr/>
          <p:nvPr/>
        </p:nvPicPr>
        <p:blipFill>
          <a:blip r:embed="rId3"/>
          <a:stretch/>
        </p:blipFill>
        <p:spPr>
          <a:xfrm>
            <a:off x="87840" y="93240"/>
            <a:ext cx="1485360" cy="57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317880"/>
            <a:ext cx="6094800" cy="63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109A5D-D459-4A32-930A-297C661F4991}" type="slidenum">
              <a:rPr b="0" lang="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953280" y="1152360"/>
            <a:ext cx="7236360" cy="367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Shape 55" descr=""/>
          <p:cNvPicPr/>
          <p:nvPr/>
        </p:nvPicPr>
        <p:blipFill>
          <a:blip r:embed="rId2"/>
          <a:srcRect l="6032" t="20250" r="9000" b="17458"/>
          <a:stretch/>
        </p:blipFill>
        <p:spPr>
          <a:xfrm>
            <a:off x="7315200" y="51840"/>
            <a:ext cx="1771200" cy="57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Рисунок 1" descr=""/>
          <p:cNvPicPr/>
          <p:nvPr/>
        </p:nvPicPr>
        <p:blipFill>
          <a:blip r:embed="rId3"/>
          <a:stretch/>
        </p:blipFill>
        <p:spPr>
          <a:xfrm>
            <a:off x="87840" y="93240"/>
            <a:ext cx="1485360" cy="57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FDB5E2-7DD2-43E4-9ACD-D5F234AD7A41}" type="slidenum">
              <a:rPr b="0" lang="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  <p:sldLayoutId id="2147483654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/>
          </p:nvPr>
        </p:nvSpPr>
        <p:spPr>
          <a:xfrm>
            <a:off x="0" y="1103400"/>
            <a:ext cx="9142920" cy="42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Arial"/>
              </a:rPr>
              <a:t>Титов Алексей Евгеньевич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911400" y="3326760"/>
            <a:ext cx="4344120" cy="146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Arial"/>
              </a:rPr>
              <a:t>Научный руководитель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Arial"/>
              </a:rPr>
              <a:t>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Arial"/>
              </a:rPr>
              <a:t>Жевненко Д.А., к. ф-м. н.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Arial"/>
              </a:rPr>
              <a:t>Научный консультант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Arial"/>
              </a:rPr>
              <a:t>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Arial"/>
              </a:rPr>
              <a:t>Мещанинов Ф.П., к. ф-м. н.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536400" y="1609920"/>
            <a:ext cx="8069760" cy="163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3333b3"/>
                </a:solidFill>
                <a:effectLst/>
                <a:uFillTx/>
                <a:latin typeface="Calibri Light"/>
                <a:ea typeface="Calibri Light"/>
              </a:rPr>
              <a:t>Сегментация и классификация дефектов на кремниевых пластинах с использованием глубокого обучения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317880"/>
            <a:ext cx="6094800" cy="63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58519f"/>
                </a:solidFill>
                <a:effectLst/>
                <a:uFillTx/>
                <a:latin typeface="Arial"/>
                <a:ea typeface="Arial"/>
              </a:rPr>
              <a:t>Актуальность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953280" y="1152360"/>
            <a:ext cx="7236360" cy="367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Актуальность темы обусловлена необходимостью повышения точности автоматизированного контроля качества в микроэлектронном производстве. Локальные дефекты и нарушения геометрии структур на кремниевых пластинах могут приводить к снижению выхода годных изделий. Малые размеры дефектов, разнообразие их форм и большой объём изображений затрудняют их обнаружение и распознавание. Методы глубокого обучения позволяют автоматизировать выделение дефектных областей и определение типа нарушения. При этом особое значение имеет сохранение геометрических деталей, от которых зависит правильность классификации.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2103F13-FAEC-429E-9AF9-9FEF938E6531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523880" y="317880"/>
            <a:ext cx="6094800" cy="63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58519f"/>
                </a:solidFill>
                <a:effectLst/>
                <a:uFillTx/>
                <a:latin typeface="Arial"/>
                <a:ea typeface="Arial"/>
              </a:rPr>
              <a:t>Цель работы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953280" y="1080000"/>
            <a:ext cx="7236360" cy="75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Разработка и исследование метода сегментации и классификации дефектов на изображениях кремниевых пластин с использованием глубокого обучения, учитывающего геометрические признаки и детализацию изображений.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Заголовок 2"/>
          <p:cNvSpPr/>
          <p:nvPr/>
        </p:nvSpPr>
        <p:spPr>
          <a:xfrm>
            <a:off x="1523880" y="1620000"/>
            <a:ext cx="609480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2400" strike="noStrike" u="none">
                <a:solidFill>
                  <a:srgbClr val="58519f"/>
                </a:solidFill>
                <a:effectLst/>
                <a:uFillTx/>
                <a:latin typeface="Arial"/>
                <a:ea typeface="Arial"/>
              </a:rPr>
              <a:t>Задачи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Текст 3"/>
          <p:cNvSpPr/>
          <p:nvPr/>
        </p:nvSpPr>
        <p:spPr>
          <a:xfrm>
            <a:off x="953280" y="2095200"/>
            <a:ext cx="7236360" cy="20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Проанализировать существующие методы сегментации и классификации дефектов на изображениях полупроводниковых структур.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Подготовить набор данных и разметку, сформировать обучающую, валидационную и тестовую выборки.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Разработать и обучить нейросетевые модели выделения дефектных областей и определения типов дефектов.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Исследовать влияние детализации изображений на сохранение геометрических признаков и качество классификации.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Разработать способ выбора участков изображения для дополнительного уточнения при неоднозначном определении класса.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5280" indent="-34308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Font typeface="Arial"/>
              <a:buAutoNum type="arabicPeriod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Сравнить разработанный метод с базовыми решениями по качеству сегментации, Macro-F1 классификации и затратам на обработку изображений.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F6058DB-1BB5-4E12-AAB9-194B224D8D5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итульный слайд (больш. лого)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Внутренние слайды (уменьш. лого)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2463</TotalTime>
  <Application>LibreOffice/25.8.3.2$MacOSX_AARCH64 LibreOffice_project/8ca8d55c161d602844f5428fa4b58097424e324e</Application>
  <AppVersion>15.0000</AppVersion>
  <Words>65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2026-10-26T15:28:03Z</dcterms:modified>
  <cp:revision>181</cp:revision>
  <dc:subject/>
  <dc:title>НИИМЭ МФТИ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(16:9)</vt:lpwstr>
  </property>
  <property fmtid="{D5CDD505-2E9C-101B-9397-08002B2CF9AE}" pid="3" name="Slides">
    <vt:i4>6</vt:i4>
  </property>
</Properties>
</file>