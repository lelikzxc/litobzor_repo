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56577dbfd04537" /><Relationship Type="http://schemas.openxmlformats.org/officeDocument/2006/relationships/extended-properties" Target="/docProps/app.xml" Id="R1a710213163f483d" /><Relationship Type="http://schemas.openxmlformats.org/officeDocument/2006/relationships/officeDocument" Target="/ppt/presentation.xml" Id="Rfe6ac953110649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1db2522c354d4d"/>
    <p:sldMasterId xmlns:r="http://schemas.openxmlformats.org/officeDocument/2006/relationships" id="2147483652" r:id="Rbd54e840f5eb4e7e"/>
  </p:sldMasterIdLst>
  <p:notesMasterIdLst>
    <p:notesMasterId xmlns:r="http://schemas.openxmlformats.org/officeDocument/2006/relationships" r:id="R725fb4dd032646fd"/>
  </p:notesMasterIdLst>
  <p:sldIdLst>
    <p:sldId xmlns:r="http://schemas.openxmlformats.org/officeDocument/2006/relationships" id="256" r:id="Raa2ddb40da87404c"/>
    <p:sldId xmlns:r="http://schemas.openxmlformats.org/officeDocument/2006/relationships" id="257" r:id="R198f764e2fe54869"/>
    <p:sldId xmlns:r="http://schemas.openxmlformats.org/officeDocument/2006/relationships" id="258" r:id="R76055533eeb64ce9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ec6c1ee55a4070" /><Relationship Type="http://schemas.openxmlformats.org/officeDocument/2006/relationships/slideMaster" Target="/ppt/slideMasters/slideMaster1.xml" Id="R7e1db2522c354d4d" /><Relationship Type="http://schemas.openxmlformats.org/officeDocument/2006/relationships/slideMaster" Target="/ppt/slideMasters/slideMaster2.xml" Id="Rbd54e840f5eb4e7e" /><Relationship Type="http://schemas.openxmlformats.org/officeDocument/2006/relationships/notesMaster" Target="/ppt/notesMasters/notesMaster1.xml" Id="R725fb4dd032646fd" /><Relationship Type="http://schemas.openxmlformats.org/officeDocument/2006/relationships/presProps" Target="/ppt/presProps.xml" Id="R2cefd1bef5cf4325" /><Relationship Type="http://schemas.openxmlformats.org/officeDocument/2006/relationships/tableStyles" Target="/ppt/tableStyles.xml" Id="R6f3611acbb854684" /><Relationship Type="http://schemas.openxmlformats.org/officeDocument/2006/relationships/slide" Target="/ppt/slides/slide1.xml" Id="Raa2ddb40da87404c" /><Relationship Type="http://schemas.openxmlformats.org/officeDocument/2006/relationships/slide" Target="/ppt/slides/slide2.xml" Id="R198f764e2fe54869" /><Relationship Type="http://schemas.openxmlformats.org/officeDocument/2006/relationships/slide" Target="/ppt/slides/slide3.xml" Id="R76055533eeb6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23f40b880d94a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Титульный слайд (бол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 Light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517a50e6124aae" /><Relationship Type="http://schemas.openxmlformats.org/officeDocument/2006/relationships/notesMaster" Target="/ppt/notesMasters/notesMaster1.xml" Id="Rfc9d75491bef46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2e6ad56fbf42ec" /><Relationship Type="http://schemas.openxmlformats.org/officeDocument/2006/relationships/notesMaster" Target="/ppt/notesMasters/notesMaster1.xml" Id="R62e04b5b18c044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0d3cd879d4417c" /><Relationship Type="http://schemas.openxmlformats.org/officeDocument/2006/relationships/notesMaster" Target="/ppt/notesMasters/notesMaster1.xml" Id="R63c9b7d5f53442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Shit S. et al. clDice – A Novel Topology-Preserving Loss Function for Tubular Structure Segmentation. CVPR 2021. https://openaccess.thecvf.com/content/CVPR2021/papers/Shit_clDice_-_A_Novel_Topology-Preserving_Loss_Function_for_Tubular_Structure_CVPR_2021_paper.pdf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обосновывает ограниченность попиксельных метрик и важность сохранения связности сетеподобных структур. Это общий CV-механизм, а не прямой эксперимент на дефектах металлизации ИС.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Krygier M. C. et al. Quantifying the unknown impact of segmentation uncertainty on image-based simulations. Nature Communications 12, 5414 (2021). https://www.nature.com/articles/s41467-021-25493-8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показывает влияние вариаций сегментации на вычисляемые физические величины. Электрический отклик в текущем исследовании рассчитывается по геометрической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a96cd4e86400a" /><Relationship Type="http://schemas.openxmlformats.org/officeDocument/2006/relationships/image" Target="/ppt/media/image.jpeg" Id="R14f57509c8da4120" /><Relationship Type="http://schemas.openxmlformats.org/officeDocument/2006/relationships/image" Target="/ppt/media/image.png" Id="Rc6de9088194647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d99372d134068" /><Relationship Type="http://schemas.openxmlformats.org/officeDocument/2006/relationships/image" Target="/ppt/media/image.jpeg" Id="Ra22a9c2074b140f8" /><Relationship Type="http://schemas.openxmlformats.org/officeDocument/2006/relationships/image" Target="/ppt/media/image.png" Id="Rc4801065fb8245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4025796df43b6" /><Relationship Type="http://schemas.openxmlformats.org/officeDocument/2006/relationships/image" Target="/ppt/media/image.jpeg" Id="Ref142d0199034dda" /><Relationship Type="http://schemas.openxmlformats.org/officeDocument/2006/relationships/image" Target="/ppt/media/image.png" Id="R81530b996f3a4f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2e15fb55324b10" /><Relationship Type="http://schemas.openxmlformats.org/officeDocument/2006/relationships/image" Target="/ppt/media/image.jpeg" Id="R5278c4e485844e4a" /><Relationship Type="http://schemas.openxmlformats.org/officeDocument/2006/relationships/image" Target="/ppt/media/image.png" Id="R76a6478a6dd441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48052bcf974d4d" /><Relationship Type="http://schemas.openxmlformats.org/officeDocument/2006/relationships/image" Target="/ppt/media/image.jpeg" Id="R90516cc43e36496f" /><Relationship Type="http://schemas.openxmlformats.org/officeDocument/2006/relationships/image" Target="/ppt/media/image.png" Id="R2e99923e2de64690" /></Relationships>
</file>

<file path=ppt/slideLayouts/slideLayout1.xml><?xml version="1.0" encoding="utf-8"?>
<p:sldLayout xmlns:p="http://schemas.openxmlformats.org/presentationml/2006/main" type="blank" preserve="1">
  <p:cSld name="Титульный бакалаврская работа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Shap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57509c8da4120"/>
          <a:srcRect xmlns:a="http://schemas.openxmlformats.org/drawingml/2006/main" l="7092" t="0" r="7258" b="0"/>
          <a:stretch xmlns:a="http://schemas.openxmlformats.org/drawingml/2006/main"/>
        </p:blipFill>
        <p:spPr>
          <a:xfrm xmlns:a="http://schemas.openxmlformats.org/drawingml/2006/main">
            <a:off x="7010280" y="32400"/>
            <a:ext cx="2121120" cy="110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1" name="Рисунок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e9088194647d6"/>
          <a:stretch xmlns:a="http://schemas.openxmlformats.org/drawingml/2006/main"/>
        </p:blipFill>
        <p:spPr>
          <a:xfrm xmlns:a="http://schemas.openxmlformats.org/drawingml/2006/main">
            <a:off x="140760" y="299880"/>
            <a:ext cx="1793160" cy="697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A7BAA82-5420-488F-A1FF-4B0AFC8B3BE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0" y="1103400"/>
            <a:ext cx="9142920" cy="42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232668B-DC86-4208-B158-6331C47B5DA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911400" y="3326760"/>
            <a:ext cx="4344120" cy="14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01B94D5-09D0-4CFE-A9B4-E1D542A98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6400" y="1609920"/>
            <a:ext cx="8069760" cy="163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985893A-8E9A-4797-983E-70B899CD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720"/>
            <a:ext cx="9142920" cy="42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2000" b="0" u="none">
                <a:solidFill>
                  <a:srgbClr val="3333B3"/>
                </a:solidFill>
                <a:latin typeface="Calibri Light"/>
                <a:ea typeface="Calibri Light"/>
                <a:cs typeface="Calibri Light"/>
              </a:rPr>
              <a:t>ВКР бакалавра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Титульный магистерская диссертация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Shap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a9c2074b140f8"/>
          <a:srcRect xmlns:a="http://schemas.openxmlformats.org/drawingml/2006/main" l="7092" t="0" r="7258" b="0"/>
          <a:stretch xmlns:a="http://schemas.openxmlformats.org/drawingml/2006/main"/>
        </p:blipFill>
        <p:spPr>
          <a:xfrm xmlns:a="http://schemas.openxmlformats.org/drawingml/2006/main">
            <a:off x="7010280" y="32400"/>
            <a:ext cx="2121120" cy="110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7" name="Рисунок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01065fb824592"/>
          <a:stretch xmlns:a="http://schemas.openxmlformats.org/drawingml/2006/main"/>
        </p:blipFill>
        <p:spPr>
          <a:xfrm xmlns:a="http://schemas.openxmlformats.org/drawingml/2006/main">
            <a:off x="140760" y="299880"/>
            <a:ext cx="1793160" cy="697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7800F8C-4707-4B06-AE94-76262A4DB63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0" y="1103400"/>
            <a:ext cx="9142920" cy="42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9729764-7726-4E77-9ED2-EC3738BC19D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911400" y="3326760"/>
            <a:ext cx="4344120" cy="14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E77D639-1CC0-4B11-8F8E-48F5F36E5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6400" y="1609920"/>
            <a:ext cx="8069760" cy="163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05C1993A-227C-4A4E-B8B6-0C9EDE21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720"/>
            <a:ext cx="9142920" cy="42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2000" b="0" u="none">
                <a:solidFill>
                  <a:srgbClr val="3333B3"/>
                </a:solidFill>
                <a:latin typeface="Calibri Light"/>
                <a:ea typeface="Calibri Light"/>
                <a:cs typeface="Calibri Light"/>
              </a:rPr>
              <a:t>Магистерская диссертация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Титульный общая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Shap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42d0199034dda"/>
          <a:srcRect xmlns:a="http://schemas.openxmlformats.org/drawingml/2006/main" l="7092" t="0" r="7258" b="0"/>
          <a:stretch xmlns:a="http://schemas.openxmlformats.org/drawingml/2006/main"/>
        </p:blipFill>
        <p:spPr>
          <a:xfrm xmlns:a="http://schemas.openxmlformats.org/drawingml/2006/main">
            <a:off x="7010280" y="32400"/>
            <a:ext cx="2121120" cy="110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22" name="Рисунок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30b996f3a4f04"/>
          <a:stretch xmlns:a="http://schemas.openxmlformats.org/drawingml/2006/main"/>
        </p:blipFill>
        <p:spPr>
          <a:xfrm xmlns:a="http://schemas.openxmlformats.org/drawingml/2006/main">
            <a:off x="140760" y="299880"/>
            <a:ext cx="1793160" cy="697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D4EEFAD-34F3-4674-B57C-86B2279DF05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0" y="1103400"/>
            <a:ext cx="9142920" cy="42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60FA3C2-0C59-4EE9-8B5B-C782D44B80F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911400" y="3326760"/>
            <a:ext cx="4344120" cy="14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4CF0A53-99C9-4D08-B5B1-65BDB6E5E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6400" y="1609920"/>
            <a:ext cx="8069760" cy="163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Заголовок + текст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Shap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8c4e485844e4a"/>
          <a:srcRect xmlns:a="http://schemas.openxmlformats.org/drawingml/2006/main" l="6032" t="20250" r="9000" b="17458"/>
          <a:stretch xmlns:a="http://schemas.openxmlformats.org/drawingml/2006/main"/>
        </p:blipFill>
        <p:spPr>
          <a:xfrm xmlns:a="http://schemas.openxmlformats.org/drawingml/2006/main">
            <a:off x="7315200" y="51840"/>
            <a:ext cx="1771200" cy="577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27" name="Рисунок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6478a6dd441cc"/>
          <a:stretch xmlns:a="http://schemas.openxmlformats.org/drawingml/2006/main"/>
        </p:blipFill>
        <p:spPr>
          <a:xfrm xmlns:a="http://schemas.openxmlformats.org/drawingml/2006/main">
            <a:off x="87840" y="93240"/>
            <a:ext cx="1485360" cy="577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E39D025-EB8A-4D46-A234-A6562D9AC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3880" y="317880"/>
            <a:ext cx="6094800" cy="63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84602E2-08D9-4D6F-8DC7-02199F380880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>
          <a:xfrm xmlns:a="http://schemas.openxmlformats.org/drawingml/2006/main">
            <a:off x="8472600" y="466308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B109A5D-D459-4A32-930A-297C661F4991}" type="slidenum"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&lt;number&gt;</a:t>
            </a:fld>
            <a:endParaRPr sz="18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F9B099F-FB3A-4186-A71E-42A96227934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53280" y="1152360"/>
            <a:ext cx="7236360" cy="36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Пустой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Shap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16cc43e36496f"/>
          <a:srcRect xmlns:a="http://schemas.openxmlformats.org/drawingml/2006/main" l="6032" t="20250" r="9000" b="17458"/>
          <a:stretch xmlns:a="http://schemas.openxmlformats.org/drawingml/2006/main"/>
        </p:blipFill>
        <p:spPr>
          <a:xfrm xmlns:a="http://schemas.openxmlformats.org/drawingml/2006/main">
            <a:off x="7315200" y="51840"/>
            <a:ext cx="1771200" cy="577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30" name="Рисунок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9923e2de64690"/>
          <a:stretch xmlns:a="http://schemas.openxmlformats.org/drawingml/2006/main"/>
        </p:blipFill>
        <p:spPr>
          <a:xfrm xmlns:a="http://schemas.openxmlformats.org/drawingml/2006/main">
            <a:off x="87840" y="93240"/>
            <a:ext cx="1485360" cy="577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A02A4E5-7737-4CF3-AD97-7AA21639463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472600" y="466308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3FDB5E2-7DD2-43E4-9ACD-D5F234AD7A41}" type="slidenum"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&lt;number&gt;</a:t>
            </a:fld>
            <a:endParaRPr sz="18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5fd76871904bcd" /><Relationship Type="http://schemas.openxmlformats.org/officeDocument/2006/relationships/slideLayout" Target="/ppt/slideLayouts/slideLayout1.xml" Id="Re87486bee5804901" /><Relationship Type="http://schemas.openxmlformats.org/officeDocument/2006/relationships/slideLayout" Target="/ppt/slideLayouts/slideLayout2.xml" Id="Rd63e40fd5f084373" /><Relationship Type="http://schemas.openxmlformats.org/officeDocument/2006/relationships/slideLayout" Target="/ppt/slideLayouts/slideLayout3.xml" Id="Rf37c5377a74e420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c1b6febc7124be1" /><Relationship Type="http://schemas.openxmlformats.org/officeDocument/2006/relationships/slideLayout" Target="/ppt/slideLayouts/slideLayout4.xml" Id="R4fe120fcac774dd0" /><Relationship Type="http://schemas.openxmlformats.org/officeDocument/2006/relationships/slideLayout" Target="/ppt/slideLayouts/slideLayout5.xml" Id="Rf5e95dad8dd0412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7486bee5804901"/>
    <p:sldLayoutId xmlns:r="http://schemas.openxmlformats.org/officeDocument/2006/relationships" id="2147483650" r:id="Rd63e40fd5f084373"/>
    <p:sldLayoutId xmlns:r="http://schemas.openxmlformats.org/officeDocument/2006/relationships" id="2147483651" r:id="Rf37c5377a74e420d"/>
  </p:sldLayoutIdLst>
</p:sldMaster>
</file>

<file path=ppt/slideMasters/slideMaster2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4fe120fcac774dd0"/>
    <p:sldLayoutId xmlns:r="http://schemas.openxmlformats.org/officeDocument/2006/relationships" id="2147483654" r:id="Rf5e95dad8dd04124"/>
  </p:sldLayoutIdLst>
</p:sldMaster>
</file>

<file path=ppt/slideMasters/theme/theme2.xml><?xml version="1.0" encoding="utf-8"?>
<a:theme xmlns:a="http://schemas.openxmlformats.org/drawingml/2006/main" name="Титульный слайд (бол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 Light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Masters/theme/theme3.xml><?xml version="1.0" encoding="utf-8"?>
<a:theme xmlns:a="http://schemas.openxmlformats.org/drawingml/2006/main" name="Внутренние слайды (умен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 Light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a694f8a9a41ba" /><Relationship Type="http://schemas.openxmlformats.org/officeDocument/2006/relationships/notesSlide" Target="/ppt/notesSlides/notesSlide1.xml" Id="R3b40ec5e215f42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097efd1d6404476" /><Relationship Type="http://schemas.openxmlformats.org/officeDocument/2006/relationships/hyperlink" Target="https://openaccess.thecvf.com/content/CVPR2021/papers/Shit_clDice_-_A_Novel_Topology-Preserving_Loss_Function_for_Tubular_Structure_CVPR_2021_paper.pdf" TargetMode="External" Id="Ra036d4d259c94d86" /><Relationship Type="http://schemas.openxmlformats.org/officeDocument/2006/relationships/hyperlink" Target="https://www.nature.com/articles/s41467-021-25493-8" TargetMode="External" Id="R0571c72d1fdd4683" /><Relationship Type="http://schemas.openxmlformats.org/officeDocument/2006/relationships/notesSlide" Target="/ppt/notesSlides/notesSlide2.xml" Id="R85851942dbe6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1388ee4ad0e4465" /><Relationship Type="http://schemas.openxmlformats.org/officeDocument/2006/relationships/notesSlide" Target="/ppt/notesSlides/notesSlide3.xml" Id="Rff569272875e4d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1C38171-B3F3-44D4-B7DA-332014D0CC0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0" y="1103400"/>
            <a:ext cx="9142920" cy="42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Титов Алексей Евгеньевич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C5EB0DB-4383-48F2-BAC5-40D60DFEE77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3911400" y="3326760"/>
            <a:ext cx="4344120" cy="14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Научный руководитель</a:t>
            </a:r>
            <a:r>
              <a:rPr sz="1800" b="0" u="none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: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Жевненко Д.А., к. ф-м. н.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Научный консультант</a:t>
            </a:r>
            <a:r>
              <a:rPr sz="1800" b="0" u="none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: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Мещанинов Ф.П., к. ф-м. н.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FDDE377-C334-42A9-BD56-5878856FD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6400" y="1609920"/>
            <a:ext cx="8069760" cy="163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sz="2800" b="0" u="none">
                <a:solidFill>
                  <a:srgbClr val="3333B3"/>
                </a:solidFill>
                <a:latin typeface="Calibri Light"/>
                <a:ea typeface="Calibri Light"/>
                <a:cs typeface="Calibri Light"/>
              </a:rPr>
              <a:t>Сегментация и классификация дефектов на кремниевых пластинах с использованием глубокого обучения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99187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B8F5324-0CCD-4F12-838C-4AC088745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3880" y="317880"/>
            <a:ext cx="6094800" cy="63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0" u="none">
                <a:solidFill>
                  <a:srgbClr val="58519F"/>
                </a:solidFill>
                <a:latin typeface="Arial"/>
                <a:ea typeface="Arial"/>
                <a:cs typeface="Arial"/>
              </a:rPr>
              <a:t>Актуальность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F5342CE-948D-423A-B127-4F26D8AEEDD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953262" y="1152335"/>
            <a:ext cx="7236333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1191"/>
              </a:spcBef>
              <a:spcAft>
                <a:spcPts val="800"/>
              </a:spcAft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Актуальность темы обусловлена необходимостью повышения точности автоматизированного контроля качества в микроэлектронном производстве. Локальные дефекты и нарушения геометрии структур на кремниевых пластинах могут приводить к снижению выхода годных изделий.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00"/>
              </a:spcAft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Методы глубокого обучения позволяют автоматизировать выделение дефектных областей и определение типа нарушения. При этом высокое попиксельное качество сегментации не гарантирует сохранения связности тонких структур [1]. Небольшие ошибки маски могут менять геометрическое состояние и вычисляемый физический отклик [2].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Поэтому необходимо исследовать метод обучения, учитывающий геометрически значимые ошибки сегментации при классификации дефектов.</a:t>
            </a: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BC4347E-C782-4569-B4B0-CEF7D119435C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103F13-FAEC-429E-9AF9-9FEF938E6531}" type="slidenum">
              <a:t>2</a:t>
            </a:fld>
          </a:p>
        </p:txBody>
      </p:sp>
      <p:sp>
        <p:nvSpPr>
          <p:cNvPr id="32" name="Источники актуальности">
            <a:extLst xmlns:a="http://schemas.openxmlformats.org/drawingml/2006/main">
              <a:ext uri="{FF2B5EF4-FFF2-40B4-BE49-F238E27FC236}">
                <a16:creationId xmlns:a16="http://schemas.microsoft.com/office/drawing/2014/main" id="{6CF6CCB1-27AF-4087-A464-2978C272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4295775"/>
            <a:ext cx="723633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0011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595959"/>
                </a:solidFill>
                <a:latin typeface="Arial"/>
                <a:ea typeface="Arial"/>
                <a:cs typeface="Arial"/>
                <a:hlinkClick xmlns:r="http://schemas.openxmlformats.org/officeDocument/2006/relationships" r:id="Ra036d4d259c94d86"/>
              </a:rPr>
              <a:t>[1] Shit et al. clDice, CVPR, 2021.</a:t>
            </a:r>
          </a:p>
          <a:p xmlns:a="http://schemas.openxmlformats.org/drawingml/2006/main">
            <a:pPr>
              <a:defRPr sz="140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595959"/>
                </a:solidFill>
                <a:latin typeface="Arial"/>
                <a:ea typeface="Arial"/>
                <a:cs typeface="Arial"/>
                <a:hlinkClick xmlns:r="http://schemas.openxmlformats.org/officeDocument/2006/relationships" r:id="R0571c72d1fdd4683"/>
              </a:rPr>
              <a:t>[2] Krygier et al. Nature Communications, 2021.</a:t>
            </a:r>
          </a:p>
        </p:txBody>
      </p:sp>
    </p:spTree>
    <p:extLst>
      <p:ext uri="{BB962C8B-B14F-4D97-AF65-F5344CB8AC3E}">
        <p14:creationId xmlns:p14="http://schemas.microsoft.com/office/powerpoint/2010/main" val="15027262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6A8E1A5-C440-458E-813C-D89EC9E9B5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3880" y="317880"/>
            <a:ext cx="6094800" cy="63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0" u="none">
                <a:solidFill>
                  <a:srgbClr val="58519F"/>
                </a:solidFill>
                <a:latin typeface="Arial"/>
                <a:ea typeface="Arial"/>
                <a:cs typeface="Arial"/>
              </a:rPr>
              <a:t>Цель работы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8A533DD-776A-4F71-B34E-B891E4A82CF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953280" y="1080000"/>
            <a:ext cx="7236360" cy="75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Разработка и исследование метода сегментации и классификации дефектов на изображениях кремниевых пластин с использованием глубокого обучения, учитывающего влияние геометрически значимых ошибок сегментации на определение класса.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F626A6C5-9E98-45CA-8C44-C508789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880" y="1620000"/>
            <a:ext cx="6094800" cy="63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400" b="0" u="none">
                <a:solidFill>
                  <a:srgbClr val="58519F"/>
                </a:solidFill>
                <a:latin typeface="Arial"/>
                <a:ea typeface="Arial"/>
                <a:cs typeface="Arial"/>
              </a:rPr>
              <a:t>Задачи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A01D7B63-D640-4FB7-B5BA-6259966D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2095214"/>
            <a:ext cx="7236333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Проанализировать существующие методы сегментации и классификации дефектов на изображениях полупроводниковых структур.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Подготовить набор данных и разметку, сформировать обучающую, валидационную и тестовую выборки.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Разработать и обучить нейросетевые модели выделения дефектных областей и определения типов дефектов.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Исследовать влияние детализации изображений на сохранение геометрических признаков и качество классификации.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Разработать способ выбора участков изображения для дополнительного уточнения при неоднозначном определении класса.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Сравнить разработанный метод с базовыми решениями по качеству сегментации, Macro-F1 классификации и затратам на обработку изображений.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342E271-56A1-4FAB-8989-BA03DD685F6F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6058DB-1BB5-4E12-AAB9-194B224D8D5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1582529981"/>
      </p:ext>
    </p:extLst>
  </p:cSld>
</p:sld>
</file>

<file path=ppt/theme/theme1.xml><?xml version="1.0" encoding="utf-8"?>
<a:theme xmlns:a="http://schemas.openxmlformats.org/drawingml/2006/main" name="Титульный слайд (бол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 Light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2026-10-29T12:28:38.8800000Z</dcterms:created>
  <dcterms:modified xsi:type="dcterms:W3CDTF">2026-10-29T12:28:38.8800000Z</dcterms:modified>
</coreProperties>
</file>